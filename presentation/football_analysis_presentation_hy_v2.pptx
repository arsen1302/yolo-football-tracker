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76072"/>
            <a:ext cx="5760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BE564"/>
                </a:solidFill>
                <a:latin typeface="Arial"/>
              </a:rPr>
              <a:t>ՆԱԽԱԳԾԻ ՆԵՐԿԱՅԱՑՈՒՄ  / 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243584"/>
            <a:ext cx="576072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4F7FB"/>
                </a:solidFill>
                <a:latin typeface="Arial"/>
              </a:rPr>
              <a:t>Ֆուտբոլային խաղի
տեսավերլուծություն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862072"/>
            <a:ext cx="5303520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9B7C8"/>
                </a:solidFill>
                <a:latin typeface="Arial"/>
              </a:rPr>
              <a:t>Տեսանյութից՝ հայտնաբերում, հետևում և խաղային գնահատումներ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950208"/>
            <a:ext cx="2331720" cy="438912"/>
          </a:xfrm>
          <a:prstGeom prst="roundRect">
            <a:avLst>
              <a:gd name="adj" fmla="val 12000"/>
            </a:avLst>
          </a:prstGeom>
          <a:solidFill>
            <a:srgbClr val="19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4032504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9BE564"/>
                </a:solidFill>
                <a:latin typeface="Arial"/>
              </a:rPr>
              <a:t>Streamlit  •  YOLO  •  ByteTrack</a:t>
            </a:r>
          </a:p>
        </p:txBody>
      </p:sp>
      <p:pic>
        <p:nvPicPr>
          <p:cNvPr id="7" name="Picture 6" descr="illustrative-frame.jpg"/>
          <p:cNvPicPr>
            <a:picLocks noChangeAspect="1"/>
          </p:cNvPicPr>
          <p:nvPr/>
        </p:nvPicPr>
        <p:blipFill>
          <a:blip r:embed="rId2"/>
          <a:srcRect l="16431" r="16431"/>
          <a:stretch>
            <a:fillRect/>
          </a:stretch>
        </p:blipFill>
        <p:spPr>
          <a:xfrm>
            <a:off x="6400800" y="960120"/>
            <a:ext cx="5074920" cy="4251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4360" y="6254496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6300216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E564"/>
                </a:solidFill>
                <a:latin typeface="Arial"/>
              </a:rPr>
              <a:t>ԱՍԵԼ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281928"/>
            <a:ext cx="9966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B7C8"/>
                </a:solidFill>
                <a:latin typeface="Arial"/>
              </a:rPr>
              <a:t>Այս նախագիծը վերլուծում է ֆուտբոլային տեսանյութը և արդյունքը ցույց տալիս նշագրված տեսանյութով։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132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BE564"/>
                </a:solidFill>
                <a:latin typeface="Arial"/>
              </a:rPr>
              <a:t>01 / ՆՊԱՏԱԿ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7FB"/>
                </a:solidFill>
                <a:latin typeface="Arial"/>
              </a:rPr>
              <a:t>Ի՞նչ խնդիր է լուծում նախագիծը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16736"/>
            <a:ext cx="502920" cy="41148"/>
          </a:xfrm>
          <a:prstGeom prst="rect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9B7C8"/>
                </a:solidFill>
                <a:latin typeface="Arial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3447288" cy="352044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2103" y="1901952"/>
            <a:ext cx="50292" cy="3063240"/>
          </a:xfrm>
          <a:prstGeom prst="rect">
            <a:avLst/>
          </a:prstGeom>
          <a:solidFill>
            <a:srgbClr val="5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56232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Մուտք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898648" cy="2715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7C8"/>
                </a:solidFill>
                <a:latin typeface="Arial"/>
              </a:rPr>
              <a:t>Ֆուտբոլային տեսանյութ
Կադրերը մշակվում են հերթականությամբ՝ առանց ձեռքով յուրաքանչյուր խաղացողին նշելու։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73352"/>
            <a:ext cx="3447288" cy="352044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44568" y="1901952"/>
            <a:ext cx="50292" cy="3063240"/>
          </a:xfrm>
          <a:prstGeom prst="rect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4" y="1856232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Վերլուծություն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2331720"/>
            <a:ext cx="2898648" cy="2715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7C8"/>
                </a:solidFill>
                <a:latin typeface="Arial"/>
              </a:rPr>
              <a:t>Համակարգիչն ավտոմատ գտնում և հետևում է խաղի հիմնական օբյեկտներին։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673352"/>
            <a:ext cx="3447288" cy="352044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7031" y="1901952"/>
            <a:ext cx="50292" cy="3063240"/>
          </a:xfrm>
          <a:prstGeom prst="rect">
            <a:avLst/>
          </a:prstGeom>
          <a:solidFill>
            <a:srgbClr val="FFC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856232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Ելք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331720"/>
            <a:ext cx="2898648" cy="2715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7C8"/>
                </a:solidFill>
                <a:latin typeface="Arial"/>
              </a:rPr>
              <a:t>Ստանում ենք նշագրված MP4՝ խաղացողների ID-ներով և մոտավոր խաղային ցուցանիշներով։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254496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6300216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E564"/>
                </a:solidFill>
                <a:latin typeface="Arial"/>
              </a:rPr>
              <a:t>ԱՍԵԼ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6281928"/>
            <a:ext cx="9966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B7C8"/>
                </a:solidFill>
                <a:latin typeface="Arial"/>
              </a:rPr>
              <a:t>Մուտքը տեսանյութն է, իսկ ելքը՝ կադրերի վրա հայտնաբերումներն ու գնահատումները ցույց տվող նոր տեսանյութը։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132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BE564"/>
                </a:solidFill>
                <a:latin typeface="Arial"/>
              </a:rPr>
              <a:t>02 / ԸՆԹԱՑՔԸ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7FB"/>
                </a:solidFill>
                <a:latin typeface="Arial"/>
              </a:rPr>
              <a:t>Տեսանյութը՝ 5 հասկանալի քայլով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16736"/>
            <a:ext cx="502920" cy="41148"/>
          </a:xfrm>
          <a:prstGeom prst="rect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9B7C8"/>
                </a:solidFill>
                <a:latin typeface="Arial"/>
              </a:rP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1417320" y="1737360"/>
            <a:ext cx="502920" cy="502920"/>
          </a:xfrm>
          <a:prstGeom prst="ellipse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792224"/>
            <a:ext cx="502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122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96312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Arial"/>
              </a:rPr>
              <a:t>Վերբեռնում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17830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9B7C8"/>
                </a:solidFill>
                <a:latin typeface="Arial"/>
              </a:rPr>
              <a:t>Ֆայլ, FPS, առաջին կադր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56816" y="1965960"/>
            <a:ext cx="1024128" cy="32004"/>
          </a:xfrm>
          <a:prstGeom prst="rect">
            <a:avLst/>
          </a:prstGeom>
          <a:solidFill>
            <a:srgbClr val="19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85032" y="1737360"/>
            <a:ext cx="502920" cy="502920"/>
          </a:xfrm>
          <a:prstGeom prst="ellipse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792224"/>
            <a:ext cx="502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1220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496312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Arial"/>
              </a:rPr>
              <a:t>YOLO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108960"/>
            <a:ext cx="17830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9B7C8"/>
                </a:solidFill>
                <a:latin typeface="Arial"/>
              </a:rPr>
              <a:t>Խաղացող, մրցավար, գնդակ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965960"/>
            <a:ext cx="1024128" cy="32004"/>
          </a:xfrm>
          <a:prstGeom prst="rect">
            <a:avLst/>
          </a:prstGeom>
          <a:solidFill>
            <a:srgbClr val="19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52744" y="1737360"/>
            <a:ext cx="502920" cy="502920"/>
          </a:xfrm>
          <a:prstGeom prst="ellipse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2744" y="1792224"/>
            <a:ext cx="502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1220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496312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Arial"/>
              </a:rPr>
              <a:t>ByteTrack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3108960"/>
            <a:ext cx="17830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9B7C8"/>
                </a:solidFill>
                <a:latin typeface="Arial"/>
              </a:rPr>
              <a:t>Նույնականացում կադրերի միջև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965960"/>
            <a:ext cx="1024128" cy="32004"/>
          </a:xfrm>
          <a:prstGeom prst="rect">
            <a:avLst/>
          </a:prstGeom>
          <a:solidFill>
            <a:srgbClr val="19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0456" y="1737360"/>
            <a:ext cx="502920" cy="502920"/>
          </a:xfrm>
          <a:prstGeom prst="ellipse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0456" y="1792224"/>
            <a:ext cx="502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1220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2496312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Arial"/>
              </a:rPr>
              <a:t>Խաղային գնահատում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5" y="3108960"/>
            <a:ext cx="17830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9B7C8"/>
                </a:solidFill>
                <a:latin typeface="Arial"/>
              </a:rPr>
              <a:t>Թիմ, տիրություն, շարժում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59952" y="1965960"/>
            <a:ext cx="1024128" cy="32004"/>
          </a:xfrm>
          <a:prstGeom prst="rect">
            <a:avLst/>
          </a:prstGeom>
          <a:solidFill>
            <a:srgbClr val="19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88168" y="1737360"/>
            <a:ext cx="502920" cy="502920"/>
          </a:xfrm>
          <a:prstGeom prst="ellipse">
            <a:avLst/>
          </a:prstGeom>
          <a:solidFill>
            <a:srgbClr val="5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88168" y="1792224"/>
            <a:ext cx="5029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B1220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2496312"/>
            <a:ext cx="169164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B"/>
                </a:solidFill>
                <a:latin typeface="Arial"/>
              </a:rPr>
              <a:t>MP4 արդյունք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3108960"/>
            <a:ext cx="17830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9B7C8"/>
                </a:solidFill>
                <a:latin typeface="Arial"/>
              </a:rPr>
              <a:t>Նշագրում և ցուցադրում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4315968"/>
            <a:ext cx="10113264" cy="105156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489704"/>
            <a:ext cx="1005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C96B"/>
                </a:solidFill>
                <a:latin typeface="Arial"/>
              </a:rPr>
              <a:t>Կարևոր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4443984"/>
            <a:ext cx="832104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Վերբեռնման պահին մոդելը չի մարզվում․ այն արդեն ուսուցված քաշերով կատարում է հայտնաբերում և հետևում։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6254496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6300216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E564"/>
                </a:solidFill>
                <a:latin typeface="Arial"/>
              </a:rPr>
              <a:t>ԱՍԵԼ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6281928"/>
            <a:ext cx="9966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B7C8"/>
                </a:solidFill>
                <a:latin typeface="Arial"/>
              </a:rPr>
              <a:t>Ասա այս հոսքը՝ վերբեռնումից մինչև MP4։ Հիշիր՝ վերլուծությունը inference է, ոչ թե ուսուցում։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132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BE564"/>
                </a:solidFill>
                <a:latin typeface="Arial"/>
              </a:rPr>
              <a:t>03 / ԻՐԱԿԱՆ ԱՐԴՅՈՒՆՔ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7FB"/>
                </a:solidFill>
                <a:latin typeface="Arial"/>
              </a:rPr>
              <a:t>Ի՞նչ է երևում մշակված կադրում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16736"/>
            <a:ext cx="502920" cy="41148"/>
          </a:xfrm>
          <a:prstGeom prst="rect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9B7C8"/>
                </a:solidFill>
                <a:latin typeface="Arial"/>
              </a:rPr>
              <a:t>04</a:t>
            </a:r>
          </a:p>
        </p:txBody>
      </p:sp>
      <p:pic>
        <p:nvPicPr>
          <p:cNvPr id="6" name="Picture 5" descr="illustrative-frame.jpg"/>
          <p:cNvPicPr>
            <a:picLocks noChangeAspect="1"/>
          </p:cNvPicPr>
          <p:nvPr/>
        </p:nvPicPr>
        <p:blipFill>
          <a:blip r:embed="rId2"/>
          <a:srcRect t="157" b="157"/>
          <a:stretch>
            <a:fillRect/>
          </a:stretch>
        </p:blipFill>
        <p:spPr>
          <a:xfrm>
            <a:off x="658368" y="1600200"/>
            <a:ext cx="7452360" cy="41788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66760" y="1673352"/>
            <a:ext cx="3154680" cy="1078992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0496" y="1901952"/>
            <a:ext cx="50292" cy="621792"/>
          </a:xfrm>
          <a:prstGeom prst="rect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14232" y="1856232"/>
            <a:ext cx="26334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Շրջաններ և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4232" y="2331720"/>
            <a:ext cx="2606040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7C8"/>
                </a:solidFill>
                <a:latin typeface="Arial"/>
              </a:rPr>
              <a:t>Հայտնաբերված խաղացողներ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907792"/>
            <a:ext cx="3154680" cy="1078992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0496" y="3136392"/>
            <a:ext cx="50292" cy="621792"/>
          </a:xfrm>
          <a:prstGeom prst="rect">
            <a:avLst/>
          </a:prstGeom>
          <a:solidFill>
            <a:srgbClr val="5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3090672"/>
            <a:ext cx="26334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Գնդակի նշիչ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3566160"/>
            <a:ext cx="2606040" cy="2743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7C8"/>
                </a:solidFill>
                <a:latin typeface="Arial"/>
              </a:rPr>
              <a:t>Ընտրված գնդակի դիրք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142232"/>
            <a:ext cx="3154680" cy="1353312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0496" y="4370832"/>
            <a:ext cx="50292" cy="896112"/>
          </a:xfrm>
          <a:prstGeom prst="rect">
            <a:avLst/>
          </a:prstGeom>
          <a:solidFill>
            <a:srgbClr val="FFC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4325112"/>
            <a:ext cx="263347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Խաղային overlay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4800600"/>
            <a:ext cx="26060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7C8"/>
                </a:solidFill>
                <a:latin typeface="Arial"/>
              </a:rPr>
              <a:t>Տիրության բաժին,
արագություն և հեռավորություն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6254496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6300216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E564"/>
                </a:solidFill>
                <a:latin typeface="Arial"/>
              </a:rPr>
              <a:t>ԱՍԵԼ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6281928"/>
            <a:ext cx="9966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B7C8"/>
                </a:solidFill>
                <a:latin typeface="Arial"/>
              </a:rPr>
              <a:t>Սա նախագծի մշակած տեսանյութից կադր է․ ցույց տուր ID-ները, գնդակի նշիչը և ցուցանիշները։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132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BE564"/>
                </a:solidFill>
                <a:latin typeface="Arial"/>
              </a:rPr>
              <a:t>04 / ՄԵԹՈԴ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7FB"/>
                </a:solidFill>
                <a:latin typeface="Arial"/>
              </a:rPr>
              <a:t>Ինչպե՞ս են ստացվում գնահատումները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16736"/>
            <a:ext cx="502920" cy="41148"/>
          </a:xfrm>
          <a:prstGeom prst="rect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9B7C8"/>
                </a:solidFill>
                <a:latin typeface="Arial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673352"/>
            <a:ext cx="5166360" cy="361188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544" y="1901952"/>
            <a:ext cx="50292" cy="3154680"/>
          </a:xfrm>
          <a:prstGeom prst="rect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2"/>
            <a:ext cx="464515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Թիմ և գնդակի տիրություն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4617720" cy="28072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7C8"/>
                </a:solidFill>
                <a:latin typeface="Arial"/>
              </a:rPr>
              <a:t>1. Խաղացողների մարզաշապիկների գույները խմբավորվում են 2 թիմի։
2. Գնդակի դիրքը համեմատվում է խաղացողների ոտքերի դիրքերի հետ։
3. Ամենամոտ խաղացողը կարող է գնահատվել որպես տիրող։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673352"/>
            <a:ext cx="5166360" cy="361188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9944" y="1901952"/>
            <a:ext cx="50292" cy="3154680"/>
          </a:xfrm>
          <a:prstGeom prst="rect">
            <a:avLst/>
          </a:prstGeom>
          <a:solidFill>
            <a:srgbClr val="5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56232"/>
            <a:ext cx="464515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Շարժում և հեռավորություն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617720" cy="28072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7C8"/>
                </a:solidFill>
                <a:latin typeface="Arial"/>
              </a:rPr>
              <a:t>1. Optical flow-ը գնահատում է տեսախցիկի շարժումը։
2. Տեսադաշտի 4 կետի չափաբերումն օգնում է դիրքը փոխարկել դաշտի կոորդինատների։
3. Կադրերի միջև փոփոխությունից ստացվում են մոտավոր արագություն և հեռավորություն։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5477256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9B7C8"/>
                </a:solidFill>
                <a:latin typeface="Arial"/>
              </a:rPr>
              <a:t>Գույների տարբերակում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5477256"/>
            <a:ext cx="11887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BE564"/>
                </a:solidFill>
                <a:latin typeface="Arial"/>
              </a:rPr>
              <a:t>K-Means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477256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9B7C8"/>
                </a:solidFill>
                <a:latin typeface="Arial"/>
              </a:rPr>
              <a:t>Դաշտի չափաբերում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5477256"/>
            <a:ext cx="224028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DD6D0"/>
                </a:solidFill>
                <a:latin typeface="Arial"/>
              </a:rPr>
              <a:t>Perspective transform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254496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6300216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E564"/>
                </a:solidFill>
                <a:latin typeface="Arial"/>
              </a:rPr>
              <a:t>ԱՍԵԼ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6281928"/>
            <a:ext cx="9966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B7C8"/>
                </a:solidFill>
                <a:latin typeface="Arial"/>
              </a:rPr>
              <a:t>Թվերը մոտավոր են․ դրանց ճշտությունը կախված է տեսախցիկից, հայտնաբերումից և դաշտի չափաբերումից։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132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BE564"/>
                </a:solidFill>
                <a:latin typeface="Arial"/>
              </a:rPr>
              <a:t>05 / ՏՎՅԱԼՆԵՐ ԵՒ ՓՈՐՁ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7FB"/>
                </a:solidFill>
                <a:latin typeface="Arial"/>
              </a:rPr>
              <a:t>Ի՞նչ ստուգեցի և ի՞նչ արդյունք ստացա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16736"/>
            <a:ext cx="502920" cy="41148"/>
          </a:xfrm>
          <a:prstGeom prst="rect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9B7C8"/>
                </a:solidFill>
                <a:latin typeface="Arial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45920"/>
            <a:ext cx="3794760" cy="4279392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74519"/>
            <a:ext cx="32004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BE564"/>
                </a:solidFill>
                <a:latin typeface="Arial"/>
              </a:rPr>
              <a:t>ROBOFLOW DATASET  • 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109728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4F7FB"/>
                </a:solidFill>
                <a:latin typeface="Arial"/>
              </a:rPr>
              <a:t>663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514600"/>
            <a:ext cx="7315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9B7C8"/>
                </a:solidFill>
                <a:latin typeface="Arial"/>
              </a:rPr>
              <a:t>նկար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192024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5DD6D0"/>
                </a:solidFill>
                <a:latin typeface="Arial"/>
              </a:rPr>
              <a:t>15,798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3355848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7C8"/>
                </a:solidFill>
                <a:latin typeface="Arial"/>
              </a:rPr>
              <a:t>վավեր bbox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32004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7FB"/>
                </a:solidFill>
                <a:latin typeface="Arial"/>
              </a:rPr>
              <a:t>Train 612  ·  Val 38  ·  Test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18304"/>
            <a:ext cx="320040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9B7C8"/>
                </a:solidFill>
                <a:latin typeface="Arial"/>
              </a:rPr>
              <a:t>Պիտակների բացակայություն / սխալ՝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73168" y="1645920"/>
            <a:ext cx="6675120" cy="4279392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4064" y="1874519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BE564"/>
                </a:solidFill>
                <a:latin typeface="Arial"/>
              </a:rPr>
              <a:t>YOLOv8n  •  20 EPOCH  •  MPS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2359152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4F7FB"/>
                </a:solidFill>
                <a:latin typeface="Arial"/>
              </a:rPr>
              <a:t>Validation mAP50–95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2926080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9B7C8"/>
                </a:solidFill>
                <a:latin typeface="Arial"/>
              </a:rPr>
              <a:t>lr 0.001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42048" y="2962656"/>
            <a:ext cx="3108960" cy="182880"/>
          </a:xfrm>
          <a:prstGeom prst="roundRect">
            <a:avLst>
              <a:gd name="adj" fmla="val 12000"/>
            </a:avLst>
          </a:prstGeom>
          <a:solidFill>
            <a:srgbClr val="19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42048" y="2962656"/>
            <a:ext cx="2656295" cy="182880"/>
          </a:xfrm>
          <a:prstGeom prst="roundRect">
            <a:avLst>
              <a:gd name="adj" fmla="val 12000"/>
            </a:avLst>
          </a:prstGeom>
          <a:solidFill>
            <a:srgbClr val="5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42448" y="2907792"/>
            <a:ext cx="62179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DD6D0"/>
                </a:solidFill>
                <a:latin typeface="Arial"/>
              </a:rPr>
              <a:t>0.4272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639312"/>
            <a:ext cx="2057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9B7C8"/>
                </a:solidFill>
                <a:latin typeface="Arial"/>
              </a:rPr>
              <a:t>lr 0.01  •  ընտրված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42048" y="3675888"/>
            <a:ext cx="3108960" cy="182880"/>
          </a:xfrm>
          <a:prstGeom prst="roundRect">
            <a:avLst>
              <a:gd name="adj" fmla="val 12000"/>
            </a:avLst>
          </a:prstGeom>
          <a:solidFill>
            <a:srgbClr val="19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42048" y="3675888"/>
            <a:ext cx="2722205" cy="182880"/>
          </a:xfrm>
          <a:prstGeom prst="roundRect">
            <a:avLst>
              <a:gd name="adj" fmla="val 12000"/>
            </a:avLst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42448" y="3621024"/>
            <a:ext cx="62179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9BE564"/>
                </a:solidFill>
                <a:latin typeface="Arial"/>
              </a:rPr>
              <a:t>0.4378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4690872"/>
            <a:ext cx="53949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4F7FB"/>
                </a:solidFill>
                <a:latin typeface="Arial"/>
              </a:rPr>
              <a:t>Ընտրվածի test mAP50–95  •  0.4421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5285232"/>
            <a:ext cx="53949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C96B"/>
                </a:solidFill>
                <a:latin typeface="Arial"/>
              </a:rPr>
              <a:t>Test հավաքածուն՝ ընդամենը 13 նկար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6254496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6300216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E564"/>
                </a:solidFill>
                <a:latin typeface="Arial"/>
              </a:rPr>
              <a:t>ԱՍԵԼ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6281928"/>
            <a:ext cx="9966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B7C8"/>
                </a:solidFill>
                <a:latin typeface="Arial"/>
              </a:rPr>
              <a:t>Երկու YOLOv8n learning-rate փորձ ավարտվեց։ Test-ը փոքր է, դրա արդյունքը անկայուն է։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132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BE564"/>
                </a:solidFill>
                <a:latin typeface="Arial"/>
              </a:rPr>
              <a:t>06 / ՍԱՀՄԱՆԱՓԱԿՈՒՄՆԵՐ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7FB"/>
                </a:solidFill>
                <a:latin typeface="Arial"/>
              </a:rPr>
              <a:t>Արդյունքները ներկայացնում եմ ազնվորեն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16736"/>
            <a:ext cx="502920" cy="41148"/>
          </a:xfrm>
          <a:prstGeom prst="rect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9B7C8"/>
                </a:solidFill>
                <a:latin typeface="Arial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673352"/>
            <a:ext cx="3429000" cy="361188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3544" y="1901952"/>
            <a:ext cx="50292" cy="3154680"/>
          </a:xfrm>
          <a:prstGeom prst="rect">
            <a:avLst/>
          </a:prstGeom>
          <a:solidFill>
            <a:srgbClr val="FFC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2"/>
            <a:ext cx="290779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Փոքր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2880360" cy="28072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7C8"/>
                </a:solidFill>
                <a:latin typeface="Arial"/>
              </a:rPr>
              <a:t>13 նկարից ստացված չափանիշը բավարար չէ լայն ընդհանրացման պնդման համար։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673352"/>
            <a:ext cx="3429000" cy="361188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1901952"/>
            <a:ext cx="50292" cy="3154680"/>
          </a:xfrm>
          <a:prstGeom prst="rect">
            <a:avLst/>
          </a:prstGeom>
          <a:solidFill>
            <a:srgbClr val="FF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856232"/>
            <a:ext cx="290779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Չավարտված փորձ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331720"/>
            <a:ext cx="2880360" cy="28072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7C8"/>
                </a:solidFill>
                <a:latin typeface="Arial"/>
              </a:rPr>
              <a:t>YOLOv8s-ի ուսուցումը կանգ առավ՝ սկավառակի ազատ տարածքի պակասի պատճառով։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673352"/>
            <a:ext cx="3429000" cy="361188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901952"/>
            <a:ext cx="50292" cy="3154680"/>
          </a:xfrm>
          <a:prstGeom prst="rect">
            <a:avLst/>
          </a:prstGeom>
          <a:solidFill>
            <a:srgbClr val="5DD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856232"/>
            <a:ext cx="290779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B"/>
                </a:solidFill>
                <a:latin typeface="Arial"/>
              </a:rPr>
              <a:t>Չափաբերում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2331720"/>
            <a:ext cx="2880360" cy="28072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9B7C8"/>
                </a:solidFill>
                <a:latin typeface="Arial"/>
              </a:rPr>
              <a:t>Արագությունն ու հեռավորությունը կախված են տեսախցիկի տեսանկյունից և դաշտի 4 կետից։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486400"/>
            <a:ext cx="16002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BE564"/>
                </a:solidFill>
                <a:latin typeface="Arial"/>
              </a:rPr>
              <a:t>Հաջորդ քայլեր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468112"/>
            <a:ext cx="84124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4F7FB"/>
                </a:solidFill>
                <a:latin typeface="Arial"/>
              </a:rPr>
              <a:t>Ազատել պահեստը → ավարտել մյուս փորձերը → բարելավել դաշտի չափաբերումը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6254496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6300216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E564"/>
                </a:solidFill>
                <a:latin typeface="Arial"/>
              </a:rPr>
              <a:t>ԱՍԵԼ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6281928"/>
            <a:ext cx="9966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B7C8"/>
                </a:solidFill>
                <a:latin typeface="Arial"/>
              </a:rPr>
              <a:t>Մի թաքցրու սահմանափակումները․ ասա, որ մոդելների ամբողջական համեմատությունը դեռ ավարտված չէ։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1323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BE564"/>
                </a:solidFill>
                <a:latin typeface="Arial"/>
              </a:rPr>
              <a:t>07 / ԱՄՓՈՓՈՒՄ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8813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4F7FB"/>
                </a:solidFill>
                <a:latin typeface="Arial"/>
              </a:rPr>
              <a:t>Մի նախադասությամբ՝ նախագծիս մասին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16736"/>
            <a:ext cx="502920" cy="41148"/>
          </a:xfrm>
          <a:prstGeom prst="rect">
            <a:avLst/>
          </a:prstGeom>
          <a:solidFill>
            <a:srgbClr val="9BE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4389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9B7C8"/>
                </a:solidFill>
                <a:latin typeface="Arial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691640"/>
            <a:ext cx="10652760" cy="192024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993392"/>
            <a:ext cx="9875520" cy="11612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4F7FB"/>
                </a:solidFill>
                <a:latin typeface="Arial"/>
              </a:rPr>
              <a:t>«Համակարգը ֆուտբոլային տեսանյութը վերածում է
հայտնաբերումներով և խաղային գնահատումներով նշագրված MP4-ի»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224528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9BE564"/>
                </a:solidFill>
                <a:latin typeface="Arial"/>
              </a:rPr>
              <a:t>Վերբեռնում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4224528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A9B7C8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6" y="4224528"/>
            <a:ext cx="2926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5DD6D0"/>
                </a:solidFill>
                <a:latin typeface="Arial"/>
              </a:rPr>
              <a:t>Հայտնաբերում և հետևում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224528"/>
            <a:ext cx="4114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A9B7C8"/>
                </a:solidFill>
                <a:latin typeface="Arial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4224528"/>
            <a:ext cx="27889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9BE564"/>
                </a:solidFill>
                <a:latin typeface="Arial"/>
              </a:rPr>
              <a:t>Նշագրված արդյունք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5074920"/>
            <a:ext cx="384048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4F7FB"/>
                </a:solidFill>
                <a:latin typeface="Arial"/>
              </a:rPr>
              <a:t>Շնորհակալություն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254496"/>
            <a:ext cx="11000232" cy="365760"/>
          </a:xfrm>
          <a:prstGeom prst="roundRect">
            <a:avLst>
              <a:gd name="adj" fmla="val 12000"/>
            </a:avLst>
          </a:prstGeom>
          <a:solidFill>
            <a:srgbClr val="12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6300216"/>
            <a:ext cx="62179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9BE564"/>
                </a:solidFill>
                <a:latin typeface="Arial"/>
              </a:rPr>
              <a:t>ԱՍԵԼ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6281928"/>
            <a:ext cx="99669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9B7C8"/>
                </a:solidFill>
                <a:latin typeface="Arial"/>
              </a:rPr>
              <a:t>Ամփոփիր մեկ նախադասությամբ, նշիր սահմանափակումը, հետո անցիր հարցերին։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Ֆուտբոլային տեսանյութի վերլուծություն</dc:title>
  <dc:subject>Նախագծի պարզ, 10 րոպեանոց ներկայացում</dc:subject>
  <dc:creator>Football Analysis</dc:creator>
  <cp:keywords>football, computer vision, YOLO, tracking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